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22" r:id="rId5"/>
    <p:sldId id="323" r:id="rId6"/>
    <p:sldId id="318" r:id="rId7"/>
    <p:sldId id="324" r:id="rId8"/>
    <p:sldId id="325" r:id="rId9"/>
    <p:sldId id="334" r:id="rId10"/>
    <p:sldId id="326" r:id="rId11"/>
    <p:sldId id="335" r:id="rId12"/>
    <p:sldId id="327" r:id="rId13"/>
    <p:sldId id="333" r:id="rId14"/>
    <p:sldId id="332" r:id="rId15"/>
    <p:sldId id="331" r:id="rId16"/>
    <p:sldId id="31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5388" autoAdjust="0"/>
  </p:normalViewPr>
  <p:slideViewPr>
    <p:cSldViewPr snapToGrid="0">
      <p:cViewPr>
        <p:scale>
          <a:sx n="78" d="100"/>
          <a:sy n="78" d="100"/>
        </p:scale>
        <p:origin x="100" y="48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6977299" cy="3734531"/>
          </a:xfrm>
        </p:spPr>
        <p:txBody>
          <a:bodyPr/>
          <a:lstStyle/>
          <a:p>
            <a:r>
              <a:rPr lang="en-US" dirty="0"/>
              <a:t>HCI &amp;</a:t>
            </a:r>
            <a:br>
              <a:rPr lang="en-US" dirty="0"/>
            </a:br>
            <a:r>
              <a:rPr lang="en-US" dirty="0"/>
              <a:t>Computer Graphics</a:t>
            </a:r>
            <a:br>
              <a:rPr lang="en-US" dirty="0"/>
            </a:br>
            <a:r>
              <a:rPr lang="en-US" dirty="0"/>
              <a:t>(CSC-2079L)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EFD31-D632-C6A8-F012-A52D279B7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EB1D-1946-8F84-9703-6C4079911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315" y="412927"/>
            <a:ext cx="6977299" cy="942345"/>
          </a:xfrm>
        </p:spPr>
        <p:txBody>
          <a:bodyPr/>
          <a:lstStyle/>
          <a:p>
            <a:r>
              <a:rPr lang="en-US" dirty="0"/>
              <a:t>Semester Project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B59014-0AD5-F963-061F-2721CD3ECEAB}"/>
              </a:ext>
            </a:extLst>
          </p:cNvPr>
          <p:cNvSpPr txBox="1">
            <a:spLocks/>
          </p:cNvSpPr>
          <p:nvPr/>
        </p:nvSpPr>
        <p:spPr>
          <a:xfrm>
            <a:off x="1203314" y="2018571"/>
            <a:ext cx="10988686" cy="12798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Title:</a:t>
            </a:r>
          </a:p>
          <a:p>
            <a:r>
              <a:rPr lang="en-US" sz="3600" dirty="0"/>
              <a:t>	 </a:t>
            </a:r>
            <a:r>
              <a:rPr lang="en-US" sz="3600" dirty="0" err="1"/>
              <a:t>CubeLand</a:t>
            </a:r>
            <a:r>
              <a:rPr lang="en-US" sz="3600" dirty="0"/>
              <a:t> (3D Open-World Terrain using OpenGL)</a:t>
            </a:r>
          </a:p>
        </p:txBody>
      </p:sp>
    </p:spTree>
    <p:extLst>
      <p:ext uri="{BB962C8B-B14F-4D97-AF65-F5344CB8AC3E}">
        <p14:creationId xmlns:p14="http://schemas.microsoft.com/office/powerpoint/2010/main" val="2027464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3"/>
            <a:ext cx="9150675" cy="859584"/>
          </a:xfrm>
        </p:spPr>
        <p:txBody>
          <a:bodyPr/>
          <a:lstStyle/>
          <a:p>
            <a:r>
              <a:rPr lang="en-US" dirty="0"/>
              <a:t>Main Interface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458104-8320-E7E5-B420-FF6AE58C49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89"/>
          <a:stretch>
            <a:fillRect/>
          </a:stretch>
        </p:blipFill>
        <p:spPr>
          <a:xfrm>
            <a:off x="1817439" y="1363437"/>
            <a:ext cx="9522754" cy="523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5D487-4721-2EB8-2BED-484B8CD3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50BA8-4854-6817-CD44-B1BB286B4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3"/>
            <a:ext cx="9150675" cy="859584"/>
          </a:xfrm>
        </p:spPr>
        <p:txBody>
          <a:bodyPr>
            <a:normAutofit/>
          </a:bodyPr>
          <a:lstStyle/>
          <a:p>
            <a:r>
              <a:rPr lang="en-US" dirty="0"/>
              <a:t>Tools Used: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11870-556E-6A25-E75D-2BC968ADD7D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05CAAEB-C705-9F79-7918-E5E56E6D3924}"/>
              </a:ext>
            </a:extLst>
          </p:cNvPr>
          <p:cNvSpPr txBox="1">
            <a:spLocks/>
          </p:cNvSpPr>
          <p:nvPr/>
        </p:nvSpPr>
        <p:spPr>
          <a:xfrm>
            <a:off x="1468815" y="1363437"/>
            <a:ext cx="10581672" cy="1551216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VS Code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OpenGL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C++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D58892C-708A-D765-825D-0DE1C55EE882}"/>
              </a:ext>
            </a:extLst>
          </p:cNvPr>
          <p:cNvSpPr txBox="1">
            <a:spLocks/>
          </p:cNvSpPr>
          <p:nvPr/>
        </p:nvSpPr>
        <p:spPr>
          <a:xfrm>
            <a:off x="1468814" y="2914653"/>
            <a:ext cx="9150675" cy="85958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Libraries Used:</a:t>
            </a:r>
            <a:endParaRPr lang="en-ZA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B67D43-0270-F648-2E24-272A2D617F00}"/>
              </a:ext>
            </a:extLst>
          </p:cNvPr>
          <p:cNvSpPr txBox="1">
            <a:spLocks/>
          </p:cNvSpPr>
          <p:nvPr/>
        </p:nvSpPr>
        <p:spPr>
          <a:xfrm>
            <a:off x="1468815" y="3690261"/>
            <a:ext cx="10581672" cy="2784018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Glfw3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Glu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Glut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 err="1"/>
              <a:t>Cmath</a:t>
            </a:r>
            <a:endParaRPr lang="en-ZA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 err="1"/>
              <a:t>Ctime</a:t>
            </a:r>
            <a:endParaRPr lang="en-ZA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 err="1"/>
              <a:t>cstdio</a:t>
            </a:r>
            <a:endParaRPr lang="en-ZA" sz="3200" dirty="0"/>
          </a:p>
        </p:txBody>
      </p:sp>
    </p:spTree>
    <p:extLst>
      <p:ext uri="{BB962C8B-B14F-4D97-AF65-F5344CB8AC3E}">
        <p14:creationId xmlns:p14="http://schemas.microsoft.com/office/powerpoint/2010/main" val="1438966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F8D2C-B1CB-8D0B-FB68-BBEACE4B6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60B7-F217-70B5-41E1-EFFB3EC6A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3"/>
            <a:ext cx="9150675" cy="859584"/>
          </a:xfrm>
        </p:spPr>
        <p:txBody>
          <a:bodyPr>
            <a:normAutofit/>
          </a:bodyPr>
          <a:lstStyle/>
          <a:p>
            <a:r>
              <a:rPr lang="en-US" dirty="0"/>
              <a:t>Key Features: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27621-FD6C-8073-DEE2-861CC33014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3A55AC0-4D29-AEAB-DE98-F3BD7F6DFDE0}"/>
              </a:ext>
            </a:extLst>
          </p:cNvPr>
          <p:cNvSpPr txBox="1">
            <a:spLocks/>
          </p:cNvSpPr>
          <p:nvPr/>
        </p:nvSpPr>
        <p:spPr>
          <a:xfrm>
            <a:off x="1468814" y="1276737"/>
            <a:ext cx="9150675" cy="514855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Blocky Theme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Trees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Player can move (WASD)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Player can Look Around(Mouse)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Player can place rooms (H)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Player can place Blocks (Right Click)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Player can delete Blocks (Left Click)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XYZ Coordinates (Top Right)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73609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B3D03-AE37-F8EA-9F7D-1A37EDE44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A4586-7E81-E5FD-DD6A-F0DEEDB18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3"/>
            <a:ext cx="9150675" cy="859584"/>
          </a:xfrm>
        </p:spPr>
        <p:txBody>
          <a:bodyPr>
            <a:normAutofit/>
          </a:bodyPr>
          <a:lstStyle/>
          <a:p>
            <a:r>
              <a:rPr lang="en-US" dirty="0"/>
              <a:t>Extra Tweaks (Hardcoded):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3B0FE-9FA6-F4B9-CF32-C8DA06E5E6C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5A4F5E-5632-8EF0-8543-D8CF4B270B89}"/>
              </a:ext>
            </a:extLst>
          </p:cNvPr>
          <p:cNvSpPr txBox="1">
            <a:spLocks/>
          </p:cNvSpPr>
          <p:nvPr/>
        </p:nvSpPr>
        <p:spPr>
          <a:xfrm>
            <a:off x="1468814" y="1276737"/>
            <a:ext cx="10524522" cy="514855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We can change size of world (100)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We can change how much pixels to render (100)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We can change sensitivity of mouse (0.1) and WASD movement (7.0)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We can change structure of Room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We can change number of trees in terrain (25)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We can change player speed (7.0)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We can change default height of Camera (1.5)</a:t>
            </a:r>
          </a:p>
        </p:txBody>
      </p:sp>
    </p:spTree>
    <p:extLst>
      <p:ext uri="{BB962C8B-B14F-4D97-AF65-F5344CB8AC3E}">
        <p14:creationId xmlns:p14="http://schemas.microsoft.com/office/powerpoint/2010/main" val="4219912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0FF9B-6F1F-F661-F2BB-FC2D7A249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A9D3C-D61B-2D1F-6249-8F294F44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3"/>
            <a:ext cx="9150675" cy="859584"/>
          </a:xfrm>
        </p:spPr>
        <p:txBody>
          <a:bodyPr>
            <a:normAutofit/>
          </a:bodyPr>
          <a:lstStyle/>
          <a:p>
            <a:r>
              <a:rPr lang="en-US" dirty="0"/>
              <a:t>Computer Graphics Concepts Used: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F097E-A333-EEF2-B863-6DBC503D4C0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D9A17AD-FA1D-A1E8-091D-FD950CF6F81E}"/>
              </a:ext>
            </a:extLst>
          </p:cNvPr>
          <p:cNvSpPr txBox="1">
            <a:spLocks/>
          </p:cNvSpPr>
          <p:nvPr/>
        </p:nvSpPr>
        <p:spPr>
          <a:xfrm>
            <a:off x="1468814" y="1276737"/>
            <a:ext cx="9150675" cy="514855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Translation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Pivot Point Concept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Yaw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Pitch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Flat Shading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Ambient Lighting (0.3 intensity)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dirty="0"/>
              <a:t>Diffused Lighting  (1.0 intensity)</a:t>
            </a:r>
          </a:p>
        </p:txBody>
      </p:sp>
    </p:spTree>
    <p:extLst>
      <p:ext uri="{BB962C8B-B14F-4D97-AF65-F5344CB8AC3E}">
        <p14:creationId xmlns:p14="http://schemas.microsoft.com/office/powerpoint/2010/main" val="360649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0F366-7018-9C00-9E0C-E2E842447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4765-EC1B-1605-661F-5037AA9BF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3"/>
            <a:ext cx="9150675" cy="859584"/>
          </a:xfrm>
        </p:spPr>
        <p:txBody>
          <a:bodyPr>
            <a:normAutofit/>
          </a:bodyPr>
          <a:lstStyle/>
          <a:p>
            <a:r>
              <a:rPr lang="en-US" dirty="0"/>
              <a:t>Lighting Equation: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B63A5-88A4-7618-C8D5-06D5F1623C1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85ED67B-5B9C-8A71-CDE4-080B6812BF82}"/>
              </a:ext>
            </a:extLst>
          </p:cNvPr>
          <p:cNvSpPr txBox="1">
            <a:spLocks/>
          </p:cNvSpPr>
          <p:nvPr/>
        </p:nvSpPr>
        <p:spPr>
          <a:xfrm>
            <a:off x="1468814" y="1276737"/>
            <a:ext cx="9150675" cy="514855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8BDB1F-6799-5B6F-98CD-B9B66537AF1B}"/>
              </a:ext>
            </a:extLst>
          </p:cNvPr>
          <p:cNvSpPr txBox="1">
            <a:spLocks/>
          </p:cNvSpPr>
          <p:nvPr/>
        </p:nvSpPr>
        <p:spPr>
          <a:xfrm>
            <a:off x="1466093" y="1999022"/>
            <a:ext cx="9512151" cy="4580164"/>
          </a:xfrm>
          <a:prstGeom prst="rect">
            <a:avLst/>
          </a:prstGeom>
        </p:spPr>
        <p:txBody>
          <a:bodyPr vert="horz" lIns="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K" dirty="0"/>
              <a:t>I = Iₐ·kₐ + </a:t>
            </a:r>
            <a:r>
              <a:rPr lang="en-PK" dirty="0" err="1"/>
              <a:t>I_d·k_d</a:t>
            </a:r>
            <a:r>
              <a:rPr lang="en-PK" dirty="0"/>
              <a:t>·(N̂·L̂) + </a:t>
            </a:r>
            <a:r>
              <a:rPr lang="en-PK" dirty="0" err="1"/>
              <a:t>I_s·k_s</a:t>
            </a:r>
            <a:r>
              <a:rPr lang="en-PK" dirty="0"/>
              <a:t>·(R̂·V̂)ⁿ</a:t>
            </a:r>
            <a:endParaRPr lang="en-ZA" dirty="0"/>
          </a:p>
          <a:p>
            <a:endParaRPr lang="en-ZA" dirty="0"/>
          </a:p>
          <a:p>
            <a:r>
              <a:rPr lang="en-ZA" dirty="0"/>
              <a:t>Put </a:t>
            </a:r>
            <a:r>
              <a:rPr lang="en-PK" dirty="0"/>
              <a:t>Iₐ</a:t>
            </a:r>
            <a:r>
              <a:rPr lang="en-US" dirty="0"/>
              <a:t> = 0.3, </a:t>
            </a:r>
            <a:r>
              <a:rPr lang="en-PK" dirty="0"/>
              <a:t>I</a:t>
            </a:r>
            <a:r>
              <a:rPr lang="en-US" dirty="0"/>
              <a:t>_d</a:t>
            </a:r>
            <a:r>
              <a:rPr lang="en-PK" dirty="0"/>
              <a:t> </a:t>
            </a:r>
            <a:r>
              <a:rPr lang="en-US" dirty="0"/>
              <a:t>= 1.0, I_s = 0</a:t>
            </a:r>
          </a:p>
          <a:p>
            <a:endParaRPr lang="en-US" dirty="0"/>
          </a:p>
          <a:p>
            <a:r>
              <a:rPr lang="en-US" dirty="0"/>
              <a:t>I = (0.3)(</a:t>
            </a:r>
            <a:r>
              <a:rPr lang="en-PK" dirty="0"/>
              <a:t>kₐ</a:t>
            </a:r>
            <a:r>
              <a:rPr lang="en-US" dirty="0"/>
              <a:t>) + (1.0)(</a:t>
            </a:r>
            <a:r>
              <a:rPr lang="en-US" dirty="0" err="1"/>
              <a:t>K_d</a:t>
            </a:r>
            <a:r>
              <a:rPr lang="en-US" dirty="0"/>
              <a:t>)(</a:t>
            </a:r>
            <a:r>
              <a:rPr lang="en-PK" dirty="0"/>
              <a:t>N̂·L̂</a:t>
            </a:r>
            <a:r>
              <a:rPr lang="en-US" dirty="0"/>
              <a:t>) + 0</a:t>
            </a:r>
          </a:p>
          <a:p>
            <a:endParaRPr lang="en-US" dirty="0"/>
          </a:p>
          <a:p>
            <a:r>
              <a:rPr lang="en-US" dirty="0"/>
              <a:t>Where,</a:t>
            </a:r>
          </a:p>
          <a:p>
            <a:r>
              <a:rPr lang="en-US" dirty="0"/>
              <a:t>	</a:t>
            </a:r>
            <a:r>
              <a:rPr lang="en-PK" dirty="0"/>
              <a:t>kₐ</a:t>
            </a:r>
            <a:r>
              <a:rPr lang="en-US" dirty="0"/>
              <a:t> = </a:t>
            </a:r>
            <a:r>
              <a:rPr lang="en-US" dirty="0" err="1"/>
              <a:t>K_d</a:t>
            </a:r>
            <a:r>
              <a:rPr lang="en-US" dirty="0"/>
              <a:t> = Block’s </a:t>
            </a:r>
            <a:r>
              <a:rPr lang="en-US" dirty="0" err="1"/>
              <a:t>Colour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	</a:t>
            </a:r>
            <a:r>
              <a:rPr lang="en-PK" dirty="0"/>
              <a:t>N̂·L̂</a:t>
            </a:r>
            <a:r>
              <a:rPr lang="en-US" dirty="0"/>
              <a:t> = Dot Product of Face normal and 		                 	             Direction to Light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01109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E8768-6C17-FB61-0416-9632A64BF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0D260-0C16-76A6-8B0E-8AE98AFF5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3"/>
            <a:ext cx="9150675" cy="859584"/>
          </a:xfrm>
        </p:spPr>
        <p:txBody>
          <a:bodyPr>
            <a:normAutofit/>
          </a:bodyPr>
          <a:lstStyle/>
          <a:p>
            <a:r>
              <a:rPr lang="en-US" dirty="0"/>
              <a:t>Basic Process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863C4-E1BD-F4DC-7E09-1F3839C164A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F56B54B-F6AE-4957-2553-0ACFD4D6F720}"/>
              </a:ext>
            </a:extLst>
          </p:cNvPr>
          <p:cNvSpPr txBox="1">
            <a:spLocks/>
          </p:cNvSpPr>
          <p:nvPr/>
        </p:nvSpPr>
        <p:spPr>
          <a:xfrm>
            <a:off x="1468814" y="1276737"/>
            <a:ext cx="9150675" cy="514855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The Basic Building Block of everything is a Cube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First design a </a:t>
            </a:r>
            <a:r>
              <a:rPr lang="en-ZA" sz="3200" dirty="0" err="1"/>
              <a:t>drawCube</a:t>
            </a:r>
            <a:r>
              <a:rPr lang="en-ZA" sz="3200" dirty="0"/>
              <a:t> function, then: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Call it in </a:t>
            </a:r>
            <a:r>
              <a:rPr lang="en-ZA" sz="3200" dirty="0" err="1"/>
              <a:t>drawTerrain</a:t>
            </a:r>
            <a:r>
              <a:rPr lang="en-ZA" sz="3200" dirty="0"/>
              <a:t> with X, Y, and Z coordinates and </a:t>
            </a:r>
            <a:r>
              <a:rPr lang="en-ZA" sz="3200" dirty="0" err="1"/>
              <a:t>color</a:t>
            </a:r>
            <a:r>
              <a:rPr lang="en-ZA" sz="3200" dirty="0"/>
              <a:t> in RGB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Call it in </a:t>
            </a:r>
            <a:r>
              <a:rPr lang="en-ZA" sz="3200" dirty="0" err="1"/>
              <a:t>drawTree</a:t>
            </a:r>
            <a:r>
              <a:rPr lang="en-ZA" sz="3200" dirty="0"/>
              <a:t> with X, Y, and Z coordinates and </a:t>
            </a:r>
            <a:r>
              <a:rPr lang="en-ZA" sz="3200" dirty="0" err="1"/>
              <a:t>color</a:t>
            </a:r>
            <a:r>
              <a:rPr lang="en-ZA" sz="3200" dirty="0"/>
              <a:t> in RGB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Call it in </a:t>
            </a:r>
            <a:r>
              <a:rPr lang="en-ZA" sz="3200" dirty="0" err="1"/>
              <a:t>drawRoom</a:t>
            </a:r>
            <a:r>
              <a:rPr lang="en-ZA" sz="3200" dirty="0"/>
              <a:t> with X, Y, and Z coordinates and </a:t>
            </a:r>
            <a:r>
              <a:rPr lang="en-ZA" sz="3200" dirty="0" err="1"/>
              <a:t>color</a:t>
            </a:r>
            <a:r>
              <a:rPr lang="en-ZA" sz="3200" dirty="0"/>
              <a:t> in RGB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Call it in </a:t>
            </a:r>
            <a:r>
              <a:rPr lang="en-ZA" sz="3200" dirty="0" err="1"/>
              <a:t>placeBlock</a:t>
            </a:r>
            <a:r>
              <a:rPr lang="en-ZA" sz="3200" dirty="0"/>
              <a:t> with X, Y, and Z coordinates and </a:t>
            </a:r>
            <a:r>
              <a:rPr lang="en-ZA" sz="3200" dirty="0" err="1"/>
              <a:t>color</a:t>
            </a:r>
            <a:r>
              <a:rPr lang="en-ZA" sz="3200" dirty="0"/>
              <a:t> in RGB</a:t>
            </a:r>
          </a:p>
        </p:txBody>
      </p:sp>
    </p:spTree>
    <p:extLst>
      <p:ext uri="{BB962C8B-B14F-4D97-AF65-F5344CB8AC3E}">
        <p14:creationId xmlns:p14="http://schemas.microsoft.com/office/powerpoint/2010/main" val="865603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C847-BC2C-6570-5358-5023A2CB6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02A27-AEAD-51C1-998F-10B2339AA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3"/>
            <a:ext cx="9150675" cy="859584"/>
          </a:xfrm>
        </p:spPr>
        <p:txBody>
          <a:bodyPr>
            <a:normAutofit/>
          </a:bodyPr>
          <a:lstStyle/>
          <a:p>
            <a:r>
              <a:rPr lang="en-US" dirty="0"/>
              <a:t>Rendering </a:t>
            </a:r>
            <a:r>
              <a:rPr lang="en-US" dirty="0" err="1"/>
              <a:t>PipeLine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38AC4-315B-82F9-6045-0F0B0B17395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FBCA2F1-4BB8-6A57-C126-072C76B6DDEE}"/>
              </a:ext>
            </a:extLst>
          </p:cNvPr>
          <p:cNvSpPr txBox="1">
            <a:spLocks/>
          </p:cNvSpPr>
          <p:nvPr/>
        </p:nvSpPr>
        <p:spPr>
          <a:xfrm>
            <a:off x="1468814" y="1276737"/>
            <a:ext cx="9150675" cy="514855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Clear Screen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Camera View Setup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Start 3D mode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Draw World including terrain, trees, blocks, rooms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Switch to 2D Mode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Draw Text and Crosshair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Swap Buffers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ZA" sz="3200" dirty="0"/>
              <a:t>Poll Events for mouse and keyboard</a:t>
            </a:r>
          </a:p>
        </p:txBody>
      </p:sp>
    </p:spTree>
    <p:extLst>
      <p:ext uri="{BB962C8B-B14F-4D97-AF65-F5344CB8AC3E}">
        <p14:creationId xmlns:p14="http://schemas.microsoft.com/office/powerpoint/2010/main" val="189855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BBD59-517A-79A1-89CA-435EC752C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F18E-49D4-B9EA-0567-5DB3C0CBE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3"/>
            <a:ext cx="9150675" cy="859584"/>
          </a:xfrm>
        </p:spPr>
        <p:txBody>
          <a:bodyPr/>
          <a:lstStyle/>
          <a:p>
            <a:r>
              <a:rPr lang="en-US" dirty="0"/>
              <a:t>Place Room (H)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1E875-F282-0B4E-D81D-D33846468E1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A2038A-4421-C97E-6290-4AB6207C3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635" y="1363437"/>
            <a:ext cx="9374935" cy="52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323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42FA7-D9C6-BC4C-909F-1BB2B348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10A3D-FFD8-DC52-A630-73187B9ED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3"/>
            <a:ext cx="9150675" cy="859584"/>
          </a:xfrm>
        </p:spPr>
        <p:txBody>
          <a:bodyPr/>
          <a:lstStyle/>
          <a:p>
            <a:r>
              <a:rPr lang="en-US" dirty="0"/>
              <a:t>Top View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2001D-2AC9-15A1-87E3-D46E17D3FF4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754174-1826-7DE4-E605-E3105D208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681" y="1559520"/>
            <a:ext cx="9141961" cy="493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618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{27075330-8436-41A2-A7FF-9D1819D4B281}TF3977e381-cba5-49b1-ba43-b5d865517af907ebbda9_win32-372d4d6ae720</Template>
  <TotalTime>118</TotalTime>
  <Words>439</Words>
  <Application>Microsoft Office PowerPoint</Application>
  <PresentationFormat>Widescreen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Tisa Offc Serif Pro</vt:lpstr>
      <vt:lpstr>Univers Light</vt:lpstr>
      <vt:lpstr>Custom</vt:lpstr>
      <vt:lpstr>HCI &amp; Computer Graphics (CSC-2079L)</vt:lpstr>
      <vt:lpstr>Semester Project</vt:lpstr>
      <vt:lpstr>Main Interface</vt:lpstr>
      <vt:lpstr>Tools Used:</vt:lpstr>
      <vt:lpstr>Key Features:</vt:lpstr>
      <vt:lpstr>Extra Tweaks (Hardcoded):</vt:lpstr>
      <vt:lpstr>Computer Graphics Concepts Used:</vt:lpstr>
      <vt:lpstr>Lighting Equation:</vt:lpstr>
      <vt:lpstr>Basic Process</vt:lpstr>
      <vt:lpstr>Rendering PipeLine</vt:lpstr>
      <vt:lpstr>Place Room (H)</vt:lpstr>
      <vt:lpstr>Top View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24-NTU-CS-FL-1054</dc:creator>
  <cp:lastModifiedBy>24-NTU-CS-FL-1054</cp:lastModifiedBy>
  <cp:revision>4</cp:revision>
  <dcterms:created xsi:type="dcterms:W3CDTF">2026-06-10T10:00:46Z</dcterms:created>
  <dcterms:modified xsi:type="dcterms:W3CDTF">2026-06-17T04:38:40Z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